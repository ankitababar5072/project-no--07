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sldIdLst>
    <p:sldId id="257" r:id="rId2"/>
    <p:sldId id="256" r:id="rId3"/>
    <p:sldId id="258" r:id="rId4"/>
    <p:sldId id="259" r:id="rId5"/>
    <p:sldId id="261" r:id="rId6"/>
    <p:sldId id="262" r:id="rId7"/>
    <p:sldId id="266" r:id="rId8"/>
    <p:sldId id="263" r:id="rId9"/>
    <p:sldId id="264" r:id="rId10"/>
    <p:sldId id="265" r:id="rId11"/>
    <p:sldId id="267" r:id="rId12"/>
    <p:sldId id="268" r:id="rId13"/>
    <p:sldId id="269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AB3A824-1A51-4B26-AD58-A6D8E14F6C04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13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514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621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702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161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09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28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72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626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21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19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8/16/2026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75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E80F-E6AF-DDF4-E103-8D33F7C60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24" y="3131820"/>
            <a:ext cx="8983398" cy="2242037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JOB MARKET ANALYSIS &amp; RECOMMENDATION SYSTEM</a:t>
            </a: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							-Ankita Babar</a:t>
            </a: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b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D48E0A-C24F-22C3-ADB6-7CEA1D887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42865" y="1733843"/>
            <a:ext cx="8510957" cy="1164102"/>
          </a:xfrm>
        </p:spPr>
        <p:txBody>
          <a:bodyPr>
            <a:noAutofit/>
          </a:bodyPr>
          <a:lstStyle/>
          <a:p>
            <a:r>
              <a:rPr lang="en-US" sz="5400" b="1" dirty="0"/>
              <a:t>Nexthikes IT Solutions</a:t>
            </a:r>
          </a:p>
        </p:txBody>
      </p:sp>
    </p:spTree>
    <p:extLst>
      <p:ext uri="{BB962C8B-B14F-4D97-AF65-F5344CB8AC3E}">
        <p14:creationId xmlns:p14="http://schemas.microsoft.com/office/powerpoint/2010/main" val="2807503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2C93E-9F0F-18A3-D2BB-B33109E20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692834"/>
            <a:ext cx="9418320" cy="664698"/>
          </a:xfrm>
        </p:spPr>
        <p:txBody>
          <a:bodyPr>
            <a:normAutofit/>
          </a:bodyPr>
          <a:lstStyle/>
          <a:p>
            <a:r>
              <a:rPr lang="en-US" sz="4000" dirty="0"/>
              <a:t> Project Overview:-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FD9D4-BF8E-1130-EC25-260BF61081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7632" y="2092569"/>
            <a:ext cx="10006350" cy="40725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project analyzes a large-scale dataset of job postings to understand current employment trends, salary patterns, geographical demand and remote-work opportunities.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combines exploratory data analysis, statistical analysis, predictive modeling and recommendation techniques to transform raw job-posting data into actionable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interactive Streamlit dashboard was developed to present the results in a user-friendly and decision-oriented format.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0580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925C-4905-E731-E010-9406701B0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633046"/>
            <a:ext cx="9418320" cy="903848"/>
          </a:xfrm>
        </p:spPr>
        <p:txBody>
          <a:bodyPr>
            <a:normAutofit/>
          </a:bodyPr>
          <a:lstStyle/>
          <a:p>
            <a:r>
              <a:rPr lang="en-US" sz="4400" dirty="0"/>
              <a:t>Problem Statement 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FA27D-1D9E-FD05-4FCB-35336E279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2152357"/>
            <a:ext cx="9418320" cy="4339883"/>
          </a:xfrm>
        </p:spPr>
        <p:txBody>
          <a:bodyPr>
            <a:noAutofit/>
          </a:bodyPr>
          <a:lstStyle/>
          <a:p>
            <a:r>
              <a:rPr lang="en-US" sz="2400" b="1" dirty="0"/>
              <a:t>Problem Statement:-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online job market contains a large volume of job postings with different titles, countries, salary structures and employment patterns.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Finding meaningful trends from this unstructured information manually is difficult and time-consuming.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02225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BA03-2452-EFF9-8505-ED4C89199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381" y="365760"/>
            <a:ext cx="8219753" cy="1072661"/>
          </a:xfrm>
        </p:spPr>
        <p:txBody>
          <a:bodyPr>
            <a:noAutofit/>
          </a:bodyPr>
          <a:lstStyle/>
          <a:p>
            <a:r>
              <a:rPr lang="en-US" sz="4400" dirty="0"/>
              <a:t>Dataset &amp; Data Preparation:-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C0FB2-052A-DAB9-EC25-4A9786607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1" y="1575582"/>
            <a:ext cx="9767199" cy="49166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Dataset Overview:-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244,828 Job Postings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212 Countries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205,470 Unique Job Title</a:t>
            </a:r>
            <a:r>
              <a:rPr lang="en-US" b="1" dirty="0"/>
              <a:t>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Hourly and non-hourly opportunities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Job title, country and publication information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Hourly minimum and maximum rates Job posting links</a:t>
            </a:r>
          </a:p>
          <a:p>
            <a:r>
              <a:rPr lang="en-US" b="1" dirty="0"/>
              <a:t>Data Preparation:-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Missing values were handled appropriately and numerical salary fields were converted into usable numeric formats.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Publication dates were standardized to enable monthly trend analysis and forecasting.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58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DD01374-09FD-EA93-4F69-46D9933F1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3473" y="1465332"/>
            <a:ext cx="10639396" cy="3806617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Large-Scale Dataset</a:t>
            </a:r>
            <a:br>
              <a:rPr lang="en-US" sz="1600" dirty="0"/>
            </a:br>
            <a:r>
              <a:rPr lang="en-US" sz="1600" dirty="0"/>
              <a:t>The dataset contained a very large number of job postings, making data processing computationally demanding.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Memory Limitations</a:t>
            </a:r>
            <a:br>
              <a:rPr lang="en-US" sz="1600" dirty="0"/>
            </a:br>
            <a:r>
              <a:rPr lang="en-US" sz="1600" dirty="0"/>
              <a:t>Converting large sparse text matrices into dense arrays caused significant memory consumption and system errors.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High Number of Unique Job Titles</a:t>
            </a:r>
            <a:br>
              <a:rPr lang="en-US" sz="1600" dirty="0"/>
            </a:br>
            <a:r>
              <a:rPr lang="en-US" sz="1600" dirty="0"/>
              <a:t>More than 200K unique job titles made keyword extraction and similarity calculations challenging.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Missing Salary Information</a:t>
            </a:r>
            <a:br>
              <a:rPr lang="en-US" sz="1600" dirty="0"/>
            </a:br>
            <a:r>
              <a:rPr lang="en-US" sz="1600" dirty="0"/>
              <a:t>Many job postings did not contain complete or usable hourly-rate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Recommendation Scalability</a:t>
            </a:r>
            <a:br>
              <a:rPr lang="en-US" sz="1600" dirty="0"/>
            </a:br>
            <a:r>
              <a:rPr lang="en-US" sz="1600" dirty="0"/>
              <a:t>Creating a complete job-to-job similarity matrix required extremely high memory for the large dataset.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Inconsistent Data</a:t>
            </a:r>
            <a:br>
              <a:rPr lang="en-US" sz="1600" dirty="0"/>
            </a:br>
            <a:r>
              <a:rPr lang="en-US" sz="1600" dirty="0"/>
              <a:t>Missing values, date formats and salary fields required careful preprocessing before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Future Forecast Uncertainty</a:t>
            </a:r>
            <a:br>
              <a:rPr lang="en-US" sz="1600" dirty="0"/>
            </a:br>
            <a:r>
              <a:rPr lang="en-US" sz="1600" dirty="0"/>
              <a:t>Predicting future job demand from historical posting patterns involved uncertainty due to changing market conditions.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15F69C-FD31-2709-A6DE-6A61F6AAF5C3}"/>
              </a:ext>
            </a:extLst>
          </p:cNvPr>
          <p:cNvSpPr txBox="1"/>
          <p:nvPr/>
        </p:nvSpPr>
        <p:spPr>
          <a:xfrm>
            <a:off x="749131" y="757446"/>
            <a:ext cx="91076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Challenges Faced in project:-</a:t>
            </a:r>
          </a:p>
        </p:txBody>
      </p:sp>
    </p:spTree>
    <p:extLst>
      <p:ext uri="{BB962C8B-B14F-4D97-AF65-F5344CB8AC3E}">
        <p14:creationId xmlns:p14="http://schemas.microsoft.com/office/powerpoint/2010/main" val="3309638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C720-CC23-3D3F-C3E0-35F1DC48B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3059" y="365760"/>
            <a:ext cx="6123666" cy="608426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Solutions Implemented:-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73968-34A0-E3C1-23CD-3415308D94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1" y="1280160"/>
            <a:ext cx="10287703" cy="5212080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Memory-Efficient Processing</a:t>
            </a:r>
            <a:br>
              <a:rPr lang="en-US" sz="1600" dirty="0"/>
            </a:br>
            <a:r>
              <a:rPr lang="en-US" sz="1600" dirty="0"/>
              <a:t>Sparse matrix operations and optimized Pandas techniques were used instead of unnecessary dense conversions.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Efficient Text Processing</a:t>
            </a:r>
            <a:br>
              <a:rPr lang="en-US" sz="1600" dirty="0"/>
            </a:br>
            <a:r>
              <a:rPr lang="en-US" sz="1600" dirty="0"/>
              <a:t>TF-IDF and keyword-based techniques were applied to process thousands of job titles efficiently.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Optimized Recommendation Approach</a:t>
            </a:r>
            <a:br>
              <a:rPr lang="en-US" sz="1600" dirty="0"/>
            </a:br>
            <a:r>
              <a:rPr lang="en-US" sz="1600" dirty="0"/>
              <a:t>Query-based similarity was used instead of generating a massive job-to-job similarity matrix.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Data Cleaning &amp; Transformation</a:t>
            </a:r>
            <a:br>
              <a:rPr lang="en-US" sz="1600" dirty="0"/>
            </a:br>
            <a:r>
              <a:rPr lang="en-US" sz="1600" dirty="0"/>
              <a:t>Missing values were handled, dates were standardized and salary columns were converted into numerical formats.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b="1" dirty="0"/>
              <a:t>Valid Salary Filtering</a:t>
            </a:r>
            <a:br>
              <a:rPr lang="en-US" sz="1600" dirty="0"/>
            </a:br>
            <a:r>
              <a:rPr lang="en-US" sz="1600" dirty="0"/>
              <a:t>Salary analysis was restricted to postings containing reliable hourly-rate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Monthly Aggregation</a:t>
            </a:r>
            <a:br>
              <a:rPr lang="en-US" sz="1600" dirty="0"/>
            </a:br>
            <a:r>
              <a:rPr lang="en-US" sz="1600" dirty="0"/>
              <a:t>Job postings were aggregated by month to reduce noise and identify meaningful market trends.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 </a:t>
            </a:r>
            <a:r>
              <a:rPr lang="en-US" sz="1600" b="1" dirty="0"/>
              <a:t>Predictive Modeling</a:t>
            </a:r>
            <a:br>
              <a:rPr lang="en-US" sz="1600" dirty="0"/>
            </a:br>
            <a:r>
              <a:rPr lang="en-US" sz="1600" dirty="0"/>
              <a:t>Historical trends were used to generate future demand estimates and multiple possible market scenarios.</a:t>
            </a:r>
          </a:p>
        </p:txBody>
      </p:sp>
    </p:spTree>
    <p:extLst>
      <p:ext uri="{BB962C8B-B14F-4D97-AF65-F5344CB8AC3E}">
        <p14:creationId xmlns:p14="http://schemas.microsoft.com/office/powerpoint/2010/main" val="255779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AC81-CD88-49A5-2C05-5AAE86C0C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675248"/>
            <a:ext cx="8163482" cy="650631"/>
          </a:xfrm>
        </p:spPr>
        <p:txBody>
          <a:bodyPr>
            <a:normAutofit/>
          </a:bodyPr>
          <a:lstStyle/>
          <a:p>
            <a:r>
              <a:rPr lang="en-US" sz="4000" dirty="0"/>
              <a:t>Integrated Streamlit Dashboard:-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F76E1-B581-E8D8-4FC1-D73C04E2E8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1" y="1688123"/>
            <a:ext cx="10554991" cy="480411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Interactive Job Market Intelligence Platform:-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complete analytical workflow was integrated into a Streamlit-based dashboard to make the project interactive and accessible.</a:t>
            </a:r>
          </a:p>
          <a:p>
            <a:r>
              <a:rPr lang="en-US" b="1" dirty="0"/>
              <a:t>Dashboard Capabilities:-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Executive KPI overview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Country filtering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Job-title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Monthly trend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Salary intelligence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Remote-work insights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Recommendation engine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Future forecasting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88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19BAC-3003-5F01-7F38-F61547365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133" y="424545"/>
            <a:ext cx="5632123" cy="816426"/>
          </a:xfrm>
        </p:spPr>
        <p:txBody>
          <a:bodyPr>
            <a:noAutofit/>
          </a:bodyPr>
          <a:lstStyle/>
          <a:p>
            <a:r>
              <a:rPr lang="en-US" sz="3600" dirty="0"/>
              <a:t>Streamlit Dashboard:-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3C7B7F4-B507-E128-A685-86F8669C3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6296" b="5929"/>
          <a:stretch>
            <a:fillRect/>
          </a:stretch>
        </p:blipFill>
        <p:spPr>
          <a:xfrm>
            <a:off x="4503738" y="1465943"/>
            <a:ext cx="7339919" cy="415108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9C46D-3A2D-F1D9-6AFE-3BC93DA5E7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8343" y="2099734"/>
            <a:ext cx="4020457" cy="3810001"/>
          </a:xfrm>
        </p:spPr>
        <p:txBody>
          <a:bodyPr>
            <a:normAutofit/>
          </a:bodyPr>
          <a:lstStyle/>
          <a:p>
            <a:r>
              <a:rPr lang="en-US" sz="2000" dirty="0"/>
              <a:t>Analysis:-</a:t>
            </a:r>
          </a:p>
          <a:p>
            <a:r>
              <a:rPr lang="en-US" sz="2000" dirty="0"/>
              <a:t>Job postings were aggregated by month. Monthly trends were visualized. Changes in posting activity were examined. The dashboard enables interactive exploration of market dynamics.</a:t>
            </a:r>
          </a:p>
        </p:txBody>
      </p:sp>
    </p:spTree>
    <p:extLst>
      <p:ext uri="{BB962C8B-B14F-4D97-AF65-F5344CB8AC3E}">
        <p14:creationId xmlns:p14="http://schemas.microsoft.com/office/powerpoint/2010/main" val="338004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9B534-7879-CAFA-844B-9C17566D3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503" y="365760"/>
            <a:ext cx="7910264" cy="1016390"/>
          </a:xfrm>
        </p:spPr>
        <p:txBody>
          <a:bodyPr>
            <a:normAutofit/>
          </a:bodyPr>
          <a:lstStyle/>
          <a:p>
            <a:r>
              <a:rPr lang="en-US" sz="4000" dirty="0"/>
              <a:t>Project Tasks &amp; Deliverables:-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6C69E-5A1E-24DC-4023-F0A0665F8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1" y="1617785"/>
            <a:ext cx="10287703" cy="487445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Task 1 — Salary &amp; Keyword Analysis </a:t>
            </a:r>
          </a:p>
          <a:p>
            <a:r>
              <a:rPr lang="en-US" dirty="0"/>
              <a:t>Analyzed job-title keywords and their relationship with offered hourly salaries to identify high- and low-paying keyword patterns.</a:t>
            </a:r>
          </a:p>
          <a:p>
            <a:r>
              <a:rPr lang="en-US" b="1" dirty="0"/>
              <a:t>Task 2 — Emerging Job Categories </a:t>
            </a:r>
          </a:p>
          <a:p>
            <a:r>
              <a:rPr lang="en-US" dirty="0"/>
              <a:t>Identified frequently occurring and emerging job categories by analyzing job-posting frequency and category trends.</a:t>
            </a:r>
          </a:p>
          <a:p>
            <a:r>
              <a:rPr lang="en-US" b="1" dirty="0"/>
              <a:t>Task 3 — Demand Forecasting </a:t>
            </a:r>
          </a:p>
          <a:p>
            <a:r>
              <a:rPr lang="en-US" dirty="0"/>
              <a:t>Forecasted the future demand of the top 5 job categories using historical job-posting patterns and predictive analysis.</a:t>
            </a:r>
          </a:p>
          <a:p>
            <a:r>
              <a:rPr lang="en-US" b="1" dirty="0"/>
              <a:t>Task 4 — Geographic Salary Analysis </a:t>
            </a:r>
          </a:p>
          <a:p>
            <a:r>
              <a:rPr lang="en-US" dirty="0"/>
              <a:t>Compared job opportunities and available hourly-rate patterns across different countries to understand geographical market differences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660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7F6572-D8B4-1DA9-71DE-28D2AF982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012874"/>
            <a:ext cx="9418320" cy="5479366"/>
          </a:xfrm>
        </p:spPr>
        <p:txBody>
          <a:bodyPr>
            <a:normAutofit/>
          </a:bodyPr>
          <a:lstStyle/>
          <a:p>
            <a:r>
              <a:rPr lang="en-US" sz="2000" b="1" dirty="0"/>
              <a:t>Task 5 — Job Recommendation Engine </a:t>
            </a:r>
          </a:p>
          <a:p>
            <a:r>
              <a:rPr lang="en-US" sz="2000" dirty="0"/>
              <a:t>Developed a recommendation system using text similarity to suggest relevant job opportunities based on a user's search query.</a:t>
            </a:r>
          </a:p>
          <a:p>
            <a:r>
              <a:rPr lang="en-US" sz="2000" b="1" dirty="0"/>
              <a:t>Task 6 — Monthly Market Dynamics </a:t>
            </a:r>
          </a:p>
          <a:p>
            <a:r>
              <a:rPr lang="en-US" sz="2000" dirty="0"/>
              <a:t>Tracked monthly changes in job-posting activity to identify market fluctuations and changing employment trends.</a:t>
            </a:r>
          </a:p>
          <a:p>
            <a:r>
              <a:rPr lang="en-US" sz="2000" b="1" dirty="0"/>
              <a:t>Task 7 — Remote Work Analysis </a:t>
            </a:r>
          </a:p>
          <a:p>
            <a:r>
              <a:rPr lang="en-US" sz="2000" dirty="0"/>
              <a:t>Analyzed remote-work opportunities and compared remote versus non-remote job patterns to understand the changing work landscape.</a:t>
            </a:r>
          </a:p>
          <a:p>
            <a:r>
              <a:rPr lang="en-US" sz="2000" b="1" dirty="0"/>
              <a:t>Task 8 — Future Job Market Prediction </a:t>
            </a:r>
          </a:p>
          <a:p>
            <a:r>
              <a:rPr lang="en-US" sz="2000" dirty="0"/>
              <a:t>Used historical trends to forecast future job-market activity and created optimistic, baseline and conservative future scenarios.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21956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543C8-1141-BBC9-3538-304DEB5A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011" y="365760"/>
            <a:ext cx="10358042" cy="720969"/>
          </a:xfrm>
        </p:spPr>
        <p:txBody>
          <a:bodyPr>
            <a:normAutofit/>
          </a:bodyPr>
          <a:lstStyle/>
          <a:p>
            <a:r>
              <a:rPr lang="en-US" sz="4000" dirty="0"/>
              <a:t>Business Insights &amp; Recommendations:-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090020-2A5B-2DE9-27C3-803A71F7A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332" y="1505243"/>
            <a:ext cx="10916530" cy="4986997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1. Skill Demand</a:t>
            </a:r>
            <a:endParaRPr lang="en-US" dirty="0"/>
          </a:p>
          <a:p>
            <a:r>
              <a:rPr lang="en-US" dirty="0"/>
              <a:t>Frequently appearing job-title keywords indicate areas with stronger market activity.</a:t>
            </a:r>
          </a:p>
          <a:p>
            <a:r>
              <a:rPr lang="en-US" b="1" dirty="0"/>
              <a:t>2. Salary Intelligence</a:t>
            </a:r>
            <a:endParaRPr lang="en-US" dirty="0"/>
          </a:p>
          <a:p>
            <a:r>
              <a:rPr lang="en-US" dirty="0"/>
              <a:t>Salary patterns vary across roles and geographical markets where hourly-rate data is available.</a:t>
            </a:r>
          </a:p>
          <a:p>
            <a:r>
              <a:rPr lang="en-US" b="1" dirty="0"/>
              <a:t>3. Geographic Opportunities</a:t>
            </a:r>
            <a:endParaRPr lang="en-US" dirty="0"/>
          </a:p>
          <a:p>
            <a:r>
              <a:rPr lang="en-US" dirty="0"/>
              <a:t>Job-posting concentration differs significantly across countries.</a:t>
            </a:r>
          </a:p>
          <a:p>
            <a:r>
              <a:rPr lang="en-US" b="1" dirty="0"/>
              <a:t>4. Remote Work</a:t>
            </a:r>
            <a:endParaRPr lang="en-US" dirty="0"/>
          </a:p>
          <a:p>
            <a:r>
              <a:rPr lang="en-US" dirty="0"/>
              <a:t>Remote opportunities represent an important dimension of the modern employment landscape.</a:t>
            </a:r>
          </a:p>
          <a:p>
            <a:r>
              <a:rPr lang="en-US" b="1" dirty="0"/>
              <a:t>5. Predictive Planning</a:t>
            </a:r>
            <a:endParaRPr lang="en-US" dirty="0"/>
          </a:p>
          <a:p>
            <a:r>
              <a:rPr lang="en-US" dirty="0"/>
              <a:t>Forecasting can help candidates and organizations prepare for potential changes in job demand.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0725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2FA1D-49DA-6B51-F9F7-F666038B40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127" y="506437"/>
            <a:ext cx="9418320" cy="777240"/>
          </a:xfrm>
        </p:spPr>
        <p:txBody>
          <a:bodyPr>
            <a:normAutofit/>
          </a:bodyPr>
          <a:lstStyle/>
          <a:p>
            <a:r>
              <a:rPr lang="en-US" sz="4000" dirty="0"/>
              <a:t>Recommendations:-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9A3BE-7B1C-B2F6-8104-CEEB97402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6840" y="2053884"/>
            <a:ext cx="9418320" cy="247591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Job seekers should focus on high-demand skills. Recruiters can monitor emerging categories. Organizations can use geographical salary patterns for planning. Candidates can use recommendation scores to discover relevant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34034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6929E-4C64-0B22-9739-FCA03409E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576775"/>
            <a:ext cx="4027580" cy="819443"/>
          </a:xfrm>
        </p:spPr>
        <p:txBody>
          <a:bodyPr>
            <a:normAutofit/>
          </a:bodyPr>
          <a:lstStyle/>
          <a:p>
            <a:r>
              <a:rPr lang="en-US" sz="4400" dirty="0"/>
              <a:t>Conclusion:-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82A642-0A8B-F0B7-A8BE-C53AB3F803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1575582"/>
            <a:ext cx="9418320" cy="49166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project successfully transforms raw job-posting data into meaningful market intelligence through analytics, visualization and predictive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provides insights into job demand, salary patterns, geographical opportunities, remote work and future market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Streamlit application makes these insights interactive and easier to explore.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919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40A0D-A766-CC27-4ABE-E9C0F6754C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1367" y="2857500"/>
            <a:ext cx="5209266" cy="1143000"/>
          </a:xfrm>
        </p:spPr>
        <p:txBody>
          <a:bodyPr/>
          <a:lstStyle/>
          <a:p>
            <a:r>
              <a:rPr lang="en-US" u="sng" dirty="0"/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358926211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178</TotalTime>
  <Words>926</Words>
  <Application>Microsoft Office PowerPoint</Application>
  <PresentationFormat>Widescreen</PresentationFormat>
  <Paragraphs>88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Schoolbook</vt:lpstr>
      <vt:lpstr>Wingdings 2</vt:lpstr>
      <vt:lpstr>View</vt:lpstr>
      <vt:lpstr>JOB MARKET ANALYSIS &amp; RECOMMENDATION SYSTEM            -Ankita Babar  </vt:lpstr>
      <vt:lpstr> Project Overview:-</vt:lpstr>
      <vt:lpstr>Problem Statement :-</vt:lpstr>
      <vt:lpstr>Dataset &amp; Data Preparation:-</vt:lpstr>
      <vt:lpstr>PowerPoint Presentation</vt:lpstr>
      <vt:lpstr>Solutions Implemented:-</vt:lpstr>
      <vt:lpstr>Integrated Streamlit Dashboard:-</vt:lpstr>
      <vt:lpstr>Streamlit Dashboard:- </vt:lpstr>
      <vt:lpstr>Project Tasks &amp; Deliverables:-</vt:lpstr>
      <vt:lpstr>PowerPoint Presentation</vt:lpstr>
      <vt:lpstr>Business Insights &amp; Recommendations:-</vt:lpstr>
      <vt:lpstr>Recommendations:-</vt:lpstr>
      <vt:lpstr>Conclusion:-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ankita babar</dc:creator>
  <cp:lastModifiedBy>ankita babar</cp:lastModifiedBy>
  <cp:revision>1</cp:revision>
  <dcterms:created xsi:type="dcterms:W3CDTF">2026-08-16T12:36:16Z</dcterms:created>
  <dcterms:modified xsi:type="dcterms:W3CDTF">2026-08-16T15:34:42Z</dcterms:modified>
</cp:coreProperties>
</file>